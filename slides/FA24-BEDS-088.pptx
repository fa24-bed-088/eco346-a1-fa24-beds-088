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Variant: last two digits 88; 88 = 11 x 8 + 0, so variant 0 = Punjab rural (prov_code 2, urban_rural 1). I attach hhweight, prov_code and urban_rural from the household file by hhid. 35,925 persons in the variant; 24,630 are aged 10-64 with a non-missing literate value; 9,173 have ed_total &gt; 0 (students). Every statistic is weighted by hhweight.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histogram on a log10 scale, bins 0.1 wide from Rs 100 to Rs 1,000,000, density per log10 unit. 9,173 students; 3 outside the range (1 below Rs 100, 2 above Rs 1,000,000). Weighted median Rs 6,600 vs unweighted Rs 7,000: the weighted cumulative share reaches 50.1% at Rs 6,600 (unweighted: 49.1%, so the unweighted 50% mark falls on the heap at Rs 7,000). 10th percentile Rs 2,000, 90th Rs 30,000, ratio 15.00.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Default: 24,630 binary points stacked in two rows, unweighted, one grey panel; you cannot read a rate off it. Redesign: conditional means (weighted rate per five-year band), position on a common scale, women and men labeled directly, no legend, less non-data ink, finding in the title, hollow markers for thin cells (none here: smallest cell has 412 persons). What the default shows that the redesign hides: individual single-year ages and that the outcome is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literacy rates, rural Punjab, aged 10-64. Women 73.1% vs men 79.8% at 15-19; women 15.0% vs men 50.8% at 55-59. Largest gap is at 55-59, 35.8 points. Cross-section: this mixes age and cohort; it cannot tell us why women were excluded (access, norms, costs).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548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spending and literacy in rural Punjab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</a:rPr>
              <a:t>ECO346 Assignment 1  |  FA24-BEDS-088  |  PSLM 2019–20</a:t>
            </a:r>
            <a:endParaRPr lang="en-US" sz="1600" dirty="0"/>
          </a:p>
        </p:txBody>
      </p:sp>
      <p:sp>
        <p:nvSpPr>
          <p:cNvPr id="4" name="Variant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Variant 0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= Punjab rural  (88 = 11 × 8 + 0)</a:t>
            </a:r>
            <a:endParaRPr lang="en-US" sz="2000" dirty="0"/>
          </a:p>
        </p:txBody>
      </p:sp>
      <p:sp>
        <p:nvSpPr>
          <p:cNvPr id="5" name="Card 1"/>
          <p:cNvSpPr/>
          <p:nvPr/>
        </p:nvSpPr>
        <p:spPr>
          <a:xfrm>
            <a:off x="548640" y="320040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/>
        </p:spPr>
      </p:sp>
      <p:sp>
        <p:nvSpPr>
          <p:cNvPr id="6" name="Card number 1"/>
          <p:cNvSpPr txBox="1"/>
          <p:nvPr/>
        </p:nvSpPr>
        <p:spPr>
          <a:xfrm>
            <a:off x="731520" y="3310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35,925</a:t>
            </a:r>
            <a:endParaRPr lang="en-US" sz="3600" dirty="0"/>
          </a:p>
        </p:txBody>
      </p:sp>
      <p:sp>
        <p:nvSpPr>
          <p:cNvPr id="7" name="Card label 1"/>
          <p:cNvSpPr txBox="1"/>
          <p:nvPr/>
        </p:nvSpPr>
        <p:spPr>
          <a:xfrm>
            <a:off x="73152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persons in the variant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320040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/>
        </p:spPr>
      </p:sp>
      <p:sp>
        <p:nvSpPr>
          <p:cNvPr id="9" name="Card number 2"/>
          <p:cNvSpPr txBox="1"/>
          <p:nvPr/>
        </p:nvSpPr>
        <p:spPr>
          <a:xfrm>
            <a:off x="3474720" y="3310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24,630</a:t>
            </a:r>
            <a:endParaRPr lang="en-US" sz="3600" dirty="0"/>
          </a:p>
        </p:txBody>
      </p:sp>
      <p:sp>
        <p:nvSpPr>
          <p:cNvPr id="10" name="Card label 2"/>
          <p:cNvSpPr txBox="1"/>
          <p:nvPr/>
        </p:nvSpPr>
        <p:spPr>
          <a:xfrm>
            <a:off x="347472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aged 10–64 with literacy data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6035040" y="320040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accent5"/>
          </a:solidFill>
          <a:ln/>
        </p:spPr>
      </p:sp>
      <p:sp>
        <p:nvSpPr>
          <p:cNvPr id="12" name="Card number 3"/>
          <p:cNvSpPr txBox="1"/>
          <p:nvPr/>
        </p:nvSpPr>
        <p:spPr>
          <a:xfrm>
            <a:off x="6217920" y="33101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9,173</a:t>
            </a:r>
            <a:endParaRPr lang="en-US" sz="3600" dirty="0"/>
          </a:p>
        </p:txBody>
      </p:sp>
      <p:sp>
        <p:nvSpPr>
          <p:cNvPr id="13" name="Card label 3"/>
          <p:cNvSpPr txBox="1"/>
          <p:nvPr/>
        </p:nvSpPr>
        <p:spPr>
          <a:xfrm>
            <a:off x="621792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students with spending &gt; 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students cost under Rs 6,600 a year; the top tenth, over Rs 30,000</a:t>
            </a:r>
            <a:endParaRPr lang="en-US" sz="2600" dirty="0"/>
          </a:p>
        </p:txBody>
      </p:sp>
      <p:pic>
        <p:nvPicPr>
          <p:cNvPr id="3" name="Distribution figure" descr="Weighted histogram of annual education spending per student on a log scale, with dashed lines at the weighted median (Rs 6,600) and 90th percentile (Rs 30,000).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280160"/>
            <a:ext cx="5486400" cy="3352800"/>
          </a:xfrm>
          <a:prstGeom prst="rect">
            <a:avLst/>
          </a:prstGeom>
        </p:spPr>
      </p:pic>
      <p:sp>
        <p:nvSpPr>
          <p:cNvPr id="4" name="Stat 1"/>
          <p:cNvSpPr txBox="1"/>
          <p:nvPr/>
        </p:nvSpPr>
        <p:spPr>
          <a:xfrm>
            <a:off x="62179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6,600</a:t>
            </a:r>
            <a:endParaRPr lang="en-US" sz="3000" dirty="0"/>
          </a:p>
        </p:txBody>
      </p:sp>
      <p:sp>
        <p:nvSpPr>
          <p:cNvPr id="5" name="Stat label 1"/>
          <p:cNvSpPr txBox="1"/>
          <p:nvPr/>
        </p:nvSpPr>
        <p:spPr>
          <a:xfrm>
            <a:off x="6217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median (unweighted Rs 7,000)</a:t>
            </a:r>
            <a:endParaRPr lang="en-US" sz="1400" dirty="0"/>
          </a:p>
        </p:txBody>
      </p:sp>
      <p:sp>
        <p:nvSpPr>
          <p:cNvPr id="6" name="Stat 2"/>
          <p:cNvSpPr txBox="1"/>
          <p:nvPr/>
        </p:nvSpPr>
        <p:spPr>
          <a:xfrm>
            <a:off x="621792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30,000</a:t>
            </a:r>
            <a:endParaRPr lang="en-US" sz="3000" dirty="0"/>
          </a:p>
        </p:txBody>
      </p:sp>
      <p:sp>
        <p:nvSpPr>
          <p:cNvPr id="7" name="Stat label 2"/>
          <p:cNvSpPr txBox="1"/>
          <p:nvPr/>
        </p:nvSpPr>
        <p:spPr>
          <a:xfrm>
            <a:off x="6217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weighted 90th percentile</a:t>
            </a:r>
            <a:endParaRPr lang="en-US" sz="1400" dirty="0"/>
          </a:p>
        </p:txBody>
      </p:sp>
      <p:sp>
        <p:nvSpPr>
          <p:cNvPr id="8" name="Stat 3"/>
          <p:cNvSpPr txBox="1"/>
          <p:nvPr/>
        </p:nvSpPr>
        <p:spPr>
          <a:xfrm>
            <a:off x="621792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15.00×</a:t>
            </a:r>
            <a:endParaRPr lang="en-US" sz="3000" dirty="0"/>
          </a:p>
        </p:txBody>
      </p:sp>
      <p:sp>
        <p:nvSpPr>
          <p:cNvPr id="9" name="Stat label 3"/>
          <p:cNvSpPr txBox="1"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90th ÷ 10th percentile (Rs 2,000)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24,630 overplotted dots to eleven comparable means</a:t>
            </a:r>
            <a:endParaRPr lang="en-US" sz="2600" dirty="0"/>
          </a:p>
        </p:txBody>
      </p:sp>
      <p:sp>
        <p:nvSpPr>
          <p:cNvPr id="3" name="Before label"/>
          <p:cNvSpPr txBox="1"/>
          <p:nvPr/>
        </p:nvSpPr>
        <p:spPr>
          <a:xfrm>
            <a:off x="4572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Before: R default, geom_point()</a:t>
            </a:r>
            <a:endParaRPr lang="en-US" sz="1400" dirty="0"/>
          </a:p>
        </p:txBody>
      </p:sp>
      <p:sp>
        <p:nvSpPr>
          <p:cNvPr id="4" name="After label"/>
          <p:cNvSpPr txBox="1"/>
          <p:nvPr/>
        </p:nvSpPr>
        <p:spPr>
          <a:xfrm>
            <a:off x="40233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After: weighted means by age band</a:t>
            </a:r>
            <a:endParaRPr lang="en-US" sz="1400" dirty="0"/>
          </a:p>
        </p:txBody>
      </p:sp>
      <p:pic>
        <p:nvPicPr>
          <p:cNvPr id="5" name="Default figure" descr="R default scatterplot of literate (0 or 1) against age: two rows of overplotted points.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554480"/>
            <a:ext cx="3291840" cy="2116183"/>
          </a:xfrm>
          <a:prstGeom prst="rect">
            <a:avLst/>
          </a:prstGeom>
        </p:spPr>
      </p:pic>
      <p:pic>
        <p:nvPicPr>
          <p:cNvPr id="6" name="Redesigned figure" descr="Line chart of weighted literacy rate by age band for women and men in rural Punjab, with the largest gap annotated at ages 55 to 59.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360" y="1554480"/>
            <a:ext cx="4572000" cy="2791326"/>
          </a:xfrm>
          <a:prstGeom prst="rect">
            <a:avLst/>
          </a:prstGeom>
        </p:spPr>
      </p:pic>
      <p:sp>
        <p:nvSpPr>
          <p:cNvPr id="7" name="Changes"/>
          <p:cNvSpPr txBox="1"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Conditional means · common-scale position · direct labels, no legend · hhweight · finding as title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read far less than men in rural Punjab, and the gap grows with age</a:t>
            </a:r>
            <a:endParaRPr lang="en-US" sz="2600" dirty="0"/>
          </a:p>
        </p:txBody>
      </p:sp>
      <p:sp>
        <p:nvSpPr>
          <p:cNvPr id="3" name="Panel 1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Panel head 1"/>
          <p:cNvSpPr txBox="1"/>
          <p:nvPr/>
        </p:nvSpPr>
        <p:spPr>
          <a:xfrm>
            <a:off x="73152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Ages 15–19</a:t>
            </a:r>
            <a:endParaRPr lang="en-US" sz="1800" dirty="0"/>
          </a:p>
        </p:txBody>
      </p:sp>
      <p:sp>
        <p:nvSpPr>
          <p:cNvPr id="5" name="Panel numbers 1"/>
          <p:cNvSpPr txBox="1"/>
          <p:nvPr/>
        </p:nvSpPr>
        <p:spPr>
          <a:xfrm>
            <a:off x="731520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women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79.8%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men</a:t>
            </a:r>
            <a:endParaRPr lang="en-US" sz="4000" dirty="0"/>
          </a:p>
        </p:txBody>
      </p:sp>
      <p:sp>
        <p:nvSpPr>
          <p:cNvPr id="6" name="Panel 2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Panel head 2"/>
          <p:cNvSpPr txBox="1"/>
          <p:nvPr/>
        </p:nvSpPr>
        <p:spPr>
          <a:xfrm>
            <a:off x="4937760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Ages 55–59</a:t>
            </a:r>
            <a:endParaRPr lang="en-US" sz="1800" dirty="0"/>
          </a:p>
        </p:txBody>
      </p:sp>
      <p:sp>
        <p:nvSpPr>
          <p:cNvPr id="8" name="Panel numbers 2"/>
          <p:cNvSpPr txBox="1"/>
          <p:nvPr/>
        </p:nvSpPr>
        <p:spPr>
          <a:xfrm>
            <a:off x="4937760" y="18288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women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men</a:t>
            </a:r>
            <a:endParaRPr lang="en-US" sz="4000" dirty="0"/>
          </a:p>
        </p:txBody>
      </p:sp>
      <p:sp>
        <p:nvSpPr>
          <p:cNvPr id="9" name="Gap statement"/>
          <p:cNvSpPr txBox="1"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Gap between men and women: 6.7 points at 15–19, 35.8 points at 55–59</a:t>
            </a:r>
            <a:endParaRPr lang="en-US" sz="2000" dirty="0"/>
          </a:p>
        </p:txBody>
      </p:sp>
      <p:sp>
        <p:nvSpPr>
          <p:cNvPr id="10" name="Caveat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one-time survey compares cohorts; it cannot say whether any one woman lost literacy or why the older cohorts lacked access.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346 Punjab">
  <a:themeElements>
    <a:clrScheme name="ECO346 Punjab">
      <a:dk1>
        <a:srgbClr val="1B1F2A"/>
      </a:dk1>
      <a:lt1>
        <a:srgbClr val="FFFFFF"/>
      </a:lt1>
      <a:dk2>
        <a:srgbClr val="1F2A44"/>
      </a:dk2>
      <a:lt2>
        <a:srgbClr val="F1F4F8"/>
      </a:lt2>
      <a:accent1>
        <a:srgbClr val="0072B2"/>
      </a:accent1>
      <a:accent2>
        <a:srgbClr val="D55E00"/>
      </a:accent2>
      <a:accent3>
        <a:srgbClr val="4C78A8"/>
      </a:accent3>
      <a:accent4>
        <a:srgbClr val="5B6475"/>
      </a:accent4>
      <a:accent5>
        <a:srgbClr val="2A3757"/>
      </a:accent5>
      <a:accent6>
        <a:srgbClr val="E0A800"/>
      </a:accent6>
      <a:hlink>
        <a:srgbClr val="0072B2"/>
      </a:hlink>
      <a:folHlink>
        <a:srgbClr val="5B6475"/>
      </a:folHlink>
    </a:clrScheme>
    <a:fontScheme name="ECO346 Punj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FA24-BEDS-088</dc:title>
  <dc:subject>PptxGenJS Presentation</dc:subject>
  <dc:creator>FA24-BEDS-088</dc:creator>
  <cp:lastModifiedBy>FA24-BEDS-088</cp:lastModifiedBy>
  <cp:revision>1</cp:revision>
  <dcterms:created xsi:type="dcterms:W3CDTF">2026-10-20T05:40:21Z</dcterms:created>
  <dcterms:modified xsi:type="dcterms:W3CDTF">2026-10-20T05:40:21Z</dcterms:modified>
</cp:coreProperties>
</file>